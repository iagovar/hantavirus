
<file path=[Content_Types].xml><?xml version="1.0" encoding="utf-8"?>
<Types xmlns="http://schemas.openxmlformats.org/package/2006/content-types">
  <Default Extension="png" ContentType="image/png"/>
  <Default Extension="tiff" ContentType="image/tiff"/>
  <Default Extension="rels" ContentType="application/vnd.openxmlformats-package.relationships+xml"/>
  <Default Extension="xml" ContentType="application/xml"/>
  <Override PartName="/ppt/theme/theme2.xml" ContentType="application/vnd.openxmlformats-officedocument.theme+xml"/>
  <Override PartName="/ppt/theme/theme1.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strictFirstAndLastChars="0" saveSubsetFonts="1">
  <p:sldMasterIdLst>
    <p:sldMasterId id="2147483648" r:id="rId1"/>
  </p:sldMasterIdLst>
  <p:notesMasterIdLst>
    <p:notesMasterId r:id="rId9"/>
  </p:notesMasterIdLst>
  <p:sldIdLst>
    <p:sldId id="265" r:id="rId2"/>
    <p:sldId id="266" r:id="rId3"/>
    <p:sldId id="267" r:id="rId4"/>
    <p:sldId id="268" r:id="rId5"/>
    <p:sldId id="269" r:id="rId6"/>
    <p:sldId id="270" r:id="rId7"/>
    <p:sldId id="263" r:id="rId8"/>
  </p:sldIdLst>
  <p:sldSz cx="10080625" cy="7559675"/>
  <p:notesSz cx="7772400" cy="10058400"/>
  <p:defaultTextStyle>
    <a:defPPr>
      <a:defRPr lang="en-GB"/>
    </a:defPPr>
    <a:lvl1pPr algn="l" rtl="0" eaLnBrk="0" fontAlgn="base" hangingPunct="0">
      <a:spcBef>
        <a:spcPct val="0"/>
      </a:spcBef>
      <a:spcAft>
        <a:spcPct val="0"/>
      </a:spcAft>
      <a:defRPr sz="2400" kern="1200">
        <a:solidFill>
          <a:schemeClr val="tx1"/>
        </a:solidFill>
        <a:latin typeface="Times New Roman" pitchFamily="16"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6"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6"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6"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6" charset="0"/>
        <a:ea typeface="+mn-ea"/>
        <a:cs typeface="+mn-cs"/>
      </a:defRPr>
    </a:lvl5pPr>
    <a:lvl6pPr marL="2286000" algn="l" defTabSz="914400" rtl="0" eaLnBrk="1" latinLnBrk="0" hangingPunct="1">
      <a:defRPr sz="2400" kern="1200">
        <a:solidFill>
          <a:schemeClr val="tx1"/>
        </a:solidFill>
        <a:latin typeface="Times New Roman" pitchFamily="16" charset="0"/>
        <a:ea typeface="+mn-ea"/>
        <a:cs typeface="+mn-cs"/>
      </a:defRPr>
    </a:lvl6pPr>
    <a:lvl7pPr marL="2743200" algn="l" defTabSz="914400" rtl="0" eaLnBrk="1" latinLnBrk="0" hangingPunct="1">
      <a:defRPr sz="2400" kern="1200">
        <a:solidFill>
          <a:schemeClr val="tx1"/>
        </a:solidFill>
        <a:latin typeface="Times New Roman" pitchFamily="16" charset="0"/>
        <a:ea typeface="+mn-ea"/>
        <a:cs typeface="+mn-cs"/>
      </a:defRPr>
    </a:lvl7pPr>
    <a:lvl8pPr marL="3200400" algn="l" defTabSz="914400" rtl="0" eaLnBrk="1" latinLnBrk="0" hangingPunct="1">
      <a:defRPr sz="2400" kern="1200">
        <a:solidFill>
          <a:schemeClr val="tx1"/>
        </a:solidFill>
        <a:latin typeface="Times New Roman" pitchFamily="16" charset="0"/>
        <a:ea typeface="+mn-ea"/>
        <a:cs typeface="+mn-cs"/>
      </a:defRPr>
    </a:lvl8pPr>
    <a:lvl9pPr marL="3657600" algn="l" defTabSz="914400" rtl="0" eaLnBrk="1" latinLnBrk="0" hangingPunct="1">
      <a:defRPr sz="2400" kern="1200">
        <a:solidFill>
          <a:schemeClr val="tx1"/>
        </a:solidFill>
        <a:latin typeface="Times New Roman" pitchFamily="16"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32" autoAdjust="0"/>
  </p:normalViewPr>
  <p:slideViewPr>
    <p:cSldViewPr>
      <p:cViewPr varScale="1">
        <p:scale>
          <a:sx n="55" d="100"/>
          <a:sy n="55" d="100"/>
        </p:scale>
        <p:origin x="-104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8028800" cy="78028800"/>
</p:viewPr>
</file>

<file path=ppt/_rels/presentation.xml.rels><Relationships xmlns="http://schemas.openxmlformats.org/package/2006/relationships"><Relationship Id="rId9" Type="http://schemas.openxmlformats.org/officeDocument/2006/relationships/notesMaster" Target="notesMasters/notesMaster1.xml"/><Relationship Id="rId13" Type="http://schemas.openxmlformats.org/officeDocument/2006/relationships/tableStyles" Target="tableStyles.xml"/><Relationship Id="rId1" Type="http://schemas.openxmlformats.org/officeDocument/2006/relationships/slideMaster" Target="slideMasters/slideMaster1.xml"/><Relationship Id="rId12" Type="http://schemas.openxmlformats.org/officeDocument/2006/relationships/theme" Target="theme/theme1.xml"/><Relationship Id="rId11" Type="http://schemas.openxmlformats.org/officeDocument/2006/relationships/viewProps" Target="viewProps.xml"/><Relationship Id="rId10" Type="http://schemas.openxmlformats.org/officeDocument/2006/relationships/presProps" Target="presProp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w="9525">
            <a:solidFill>
              <a:srgbClr val="000000"/>
            </a:solidFill>
            <a:miter lim="800000"/>
            <a:headEnd/>
            <a:tailEnd/>
          </a:ln>
          <a:effectLst/>
        </p:spPr>
      </p:sp>
      <p:sp>
        <p:nvSpPr>
          <p:cNvPr id="2050" name="Rectangle 2"/>
          <p:cNvSpPr txBox="1">
            <a:spLocks noGrp="1" noChangeArrowheads="1"/>
          </p:cNvSpPr>
          <p:nvPr>
            <p:ph type="body" idx="1"/>
          </p:nvPr>
        </p:nvSpPr>
        <p:spPr bwMode="auto">
          <a:xfrm>
            <a:off x="1185863" y="4787900"/>
            <a:ext cx="5407025" cy="3825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smtClean="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3"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4"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5"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6"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7"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8"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1266"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2290"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1 Epidemiologic Analysis of the 2018−2019 Outbreak of Andes Virus (ANDV) Hantavirus Pulmonary Syndrome and Transmission Dynamics in Humans. Panel A shows the phylogenetic tree generated with the use of the maximum-likelihood method and estimated on the basis of S segment sequences (gray inset) and the concatenated S, M, and L segment sequences (ANDV subtree, right) with the use of 1000 bootstrap replications. The scale bars indicate the number of substitutions per site. Branch tips are labeled according to the strain designation and isolation date or patient number. Panel B shows an overview of ANDV transmission among patients. Patients who were the sources of transmission are indicated in red, and other possible but less likely transmission events between patients are indicated in yellow. Individual reproductive numbers (Z [the number of secondary infections caused by each patient, reported as an integer]) are shown where transmission events are indicated. Patients depicted in gray were not associated with evidence of extended transmission chains. Panel C shows a median-joining haplotype network generated with the use of concatenated segment sequences from 27 ANDV specimens. The loci of the nucleotide (black hash marks) and the amino acid (pink lines) are shown for each terminal node, which represents a single case. The S, M, and L segments of ANDV are represented by purple (S segment), dark blue (M segment), and light blue (L segment) bars. Panel D shows the reproductive number (R [the number of secondary cases per patient with a confirmed case]) and the incidence (gray shading) of ANDV hantavirus pulmonary syndrome of 34 cases over a 15-week period. The median R value was estimated for each week (solid black line) with 95% credible intervals (pink shading). The blue dashed line indicates the median R value before control measures were implemented (R=2.12) by the Ministry of Health, and the red dashed line indicates the R value after control measures were implemented (R=0.96); these values are shown for each 1-week period, where possible. The median R value for the entire 15-week period was 1.19. The thin black line indicates where R=1.00.</a:t>
            </a:r>
            <a:endParaRPr lang="en-GB" dirty="0">
              <a:latin typeface="Arial" charset="0"/>
              <a:ea typeface="Gothic" charset="0"/>
              <a:cs typeface="Gothic" charset="0"/>
            </a:endParaRP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1 Characteristics of Cases of Andes Virus (ANDV) Hantavirus Pulmonary Syndrome.</a:t>
            </a:r>
            <a:endParaRPr lang="en-GB" dirty="0">
              <a:latin typeface="Arial" charset="0"/>
              <a:ea typeface="Gothic" charset="0"/>
              <a:cs typeface="Gothic" charset="0"/>
            </a:endParaRP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2 Clinical Findings in Patients with ANDV Infection.</a:t>
            </a:r>
            <a:endParaRPr lang="en-GB" dirty="0">
              <a:latin typeface="Arial" charset="0"/>
              <a:ea typeface="Gothic" charset="0"/>
              <a:cs typeface="Gothic" charset="0"/>
            </a:endParaRP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3 Serum Cytokine Profiles of Patients with ANDV Infection.</a:t>
            </a:r>
            <a:endParaRPr lang="en-GB" dirty="0">
              <a:latin typeface="Arial" charset="0"/>
              <a:ea typeface="Gothic" charset="0"/>
              <a:cs typeface="Gothic"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_rels/slideLayout2.xml.rels><Relationships xmlns="http://schemas.openxmlformats.org/package/2006/relationships"><Relationship Id="rId1" Type="http://schemas.openxmlformats.org/officeDocument/2006/relationships/slideMaster" Target="../slideMasters/slideMaster1.xml"/></Relationships>
</file>

<file path=ppt/slideLayouts/_rels/slideLayout3.xml.rels><Relationships xmlns="http://schemas.openxmlformats.org/package/2006/relationships"><Relationship Id="rId1" Type="http://schemas.openxmlformats.org/officeDocument/2006/relationships/slideMaster" Target="../slideMasters/slideMaster1.xml"/></Relationships>
</file>

<file path=ppt/slideLayouts/_rels/slideLayout4.xml.rels><Relationships xmlns="http://schemas.openxmlformats.org/package/2006/relationships"><Relationship Id="rId1" Type="http://schemas.openxmlformats.org/officeDocument/2006/relationships/slideMaster" Target="../slideMasters/slideMaster1.xml"/></Relationships>
</file>

<file path=ppt/slideLayouts/_rels/slideLayout5.xml.rels><Relationships xmlns="http://schemas.openxmlformats.org/package/2006/relationships"><Relationship Id="rId1" Type="http://schemas.openxmlformats.org/officeDocument/2006/relationships/slideMaster" Target="../slideMasters/slideMaster1.xml"/></Relationships>
</file>

<file path=ppt/slideLayouts/_rels/slideLayout6.xml.rels><Relationships xmlns="http://schemas.openxmlformats.org/package/2006/relationships"><Relationship Id="rId1" Type="http://schemas.openxmlformats.org/officeDocument/2006/relationships/slideMaster" Target="../slideMasters/slideMaster1.xml"/></Relationships>
</file>

<file path=ppt/slideLayouts/_rels/slideLayout7.xml.rels><Relationships xmlns="http://schemas.openxmlformats.org/package/2006/relationships"><Relationship Id="rId1" Type="http://schemas.openxmlformats.org/officeDocument/2006/relationships/slideMaster" Target="../slideMasters/slideMaster1.xml"/></Relationships>
</file>

<file path=ppt/slideLayouts/_rels/slideLayout8.xml.rels><Relationships xmlns="http://schemas.openxmlformats.org/package/2006/relationships"><Relationship Id="rId1" Type="http://schemas.openxmlformats.org/officeDocument/2006/relationships/slideMaster" Target="../slideMasters/slideMaster1.xml"/></Relationships>
</file>

<file path=ppt/slideLayouts/_rels/slideLayout9.xml.rels><Relationships xmlns="http://schemas.openxmlformats.org/package/2006/relationships"><Relationship Id="rId1" Type="http://schemas.openxmlformats.org/officeDocument/2006/relationships/slideMaster" Target="../slideMasters/slideMaster1.xml"/></Relationships>
</file>

<file path=ppt/slideLayouts/_rels/slideLayout10.xml.rels><Relationships xmlns="http://schemas.openxmlformats.org/package/2006/relationships"><Relationship Id="rId1" Type="http://schemas.openxmlformats.org/officeDocument/2006/relationships/slideMaster" Target="../slideMasters/slideMaster1.xml"/></Relationships>
</file>

<file path=ppt/slideLayouts/_rels/slideLayout1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9775" y="2101850"/>
            <a:ext cx="4225925"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8100" y="2101850"/>
            <a:ext cx="4227513"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4550" y="627063"/>
            <a:ext cx="2151063" cy="623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9775" y="627063"/>
            <a:ext cx="6302375" cy="623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739775" y="627063"/>
            <a:ext cx="8605838" cy="126047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6" name="Rectangle 2"/>
          <p:cNvSpPr>
            <a:spLocks noGrp="1" noChangeArrowheads="1"/>
          </p:cNvSpPr>
          <p:nvPr>
            <p:ph type="body" idx="1"/>
          </p:nvPr>
        </p:nvSpPr>
        <p:spPr bwMode="auto">
          <a:xfrm>
            <a:off x="739775" y="2101850"/>
            <a:ext cx="8605838" cy="47609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fontAlgn="base" hangingPunct="0">
        <a:lnSpc>
          <a:spcPct val="97000"/>
        </a:lnSpc>
        <a:spcBef>
          <a:spcPct val="0"/>
        </a:spcBef>
        <a:spcAft>
          <a:spcPct val="0"/>
        </a:spcAft>
        <a:buClr>
          <a:srgbClr val="FFFFFF"/>
        </a:buClr>
        <a:buSzPct val="45000"/>
        <a:buFont typeface="StarSymbol" charset="0"/>
        <a:defRPr sz="2800" b="1">
          <a:solidFill>
            <a:srgbClr val="FFFFFF"/>
          </a:solidFill>
          <a:latin typeface="+mj-lt"/>
          <a:ea typeface="+mj-ea"/>
          <a:cs typeface="+mj-cs"/>
        </a:defRPr>
      </a:lvl1pPr>
      <a:lvl2pPr marL="4318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2pPr>
      <a:lvl3pPr marL="647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3pPr>
      <a:lvl4pPr marL="8636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4pPr>
      <a:lvl5pPr marL="10795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5pPr>
      <a:lvl6pPr marL="1536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6pPr>
      <a:lvl7pPr marL="19939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7pPr>
      <a:lvl8pPr marL="24511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8pPr>
      <a:lvl9pPr marL="29083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9pPr>
    </p:titleStyle>
    <p:bodyStyle>
      <a:lvl1pPr marL="431800" indent="-323850" algn="l" defTabSz="457200" rtl="0" fontAlgn="base" hangingPunct="0">
        <a:lnSpc>
          <a:spcPct val="97000"/>
        </a:lnSpc>
        <a:spcBef>
          <a:spcPct val="0"/>
        </a:spcBef>
        <a:spcAft>
          <a:spcPts val="888"/>
        </a:spcAft>
        <a:buClr>
          <a:srgbClr val="FFFFFF"/>
        </a:buClr>
        <a:buSzPct val="100000"/>
        <a:buFont typeface="Arial" charset="0"/>
        <a:buChar char="•"/>
        <a:defRPr sz="2000">
          <a:solidFill>
            <a:srgbClr val="FFFFFF"/>
          </a:solidFill>
          <a:latin typeface="+mn-lt"/>
          <a:ea typeface="+mn-ea"/>
          <a:cs typeface="+mn-cs"/>
        </a:defRPr>
      </a:lvl1pPr>
      <a:lvl2pPr marL="863600" indent="-287338" algn="l" defTabSz="457200" rtl="0" fontAlgn="base" hangingPunct="0">
        <a:lnSpc>
          <a:spcPct val="97000"/>
        </a:lnSpc>
        <a:spcBef>
          <a:spcPct val="0"/>
        </a:spcBef>
        <a:spcAft>
          <a:spcPts val="1138"/>
        </a:spcAft>
        <a:buClr>
          <a:srgbClr val="FFFFFF"/>
        </a:buClr>
        <a:buSzPct val="75000"/>
        <a:buFont typeface="StarSymbol" charset="0"/>
        <a:buChar char="–"/>
        <a:defRPr sz="2600">
          <a:solidFill>
            <a:srgbClr val="FFFFFF"/>
          </a:solidFill>
          <a:latin typeface="+mn-lt"/>
          <a:ea typeface="+mn-ea"/>
          <a:cs typeface="+mn-cs"/>
        </a:defRPr>
      </a:lvl2pPr>
      <a:lvl3pPr marL="1295400" indent="-215900" algn="l" defTabSz="457200" rtl="0" fontAlgn="base" hangingPunct="0">
        <a:lnSpc>
          <a:spcPct val="97000"/>
        </a:lnSpc>
        <a:spcBef>
          <a:spcPct val="0"/>
        </a:spcBef>
        <a:spcAft>
          <a:spcPts val="850"/>
        </a:spcAft>
        <a:buClr>
          <a:srgbClr val="FFFFFF"/>
        </a:buClr>
        <a:buSzPct val="45000"/>
        <a:buFont typeface="StarSymbol" charset="0"/>
        <a:buChar char="●"/>
        <a:defRPr sz="2400">
          <a:solidFill>
            <a:srgbClr val="FFFFFF"/>
          </a:solidFill>
          <a:latin typeface="+mn-lt"/>
          <a:ea typeface="+mn-ea"/>
          <a:cs typeface="+mn-cs"/>
        </a:defRPr>
      </a:lvl3pPr>
      <a:lvl4pPr marL="1727200" indent="-215900" algn="l" defTabSz="457200" rtl="0" fontAlgn="base" hangingPunct="0">
        <a:lnSpc>
          <a:spcPct val="97000"/>
        </a:lnSpc>
        <a:spcBef>
          <a:spcPct val="0"/>
        </a:spcBef>
        <a:spcAft>
          <a:spcPts val="575"/>
        </a:spcAft>
        <a:buClr>
          <a:srgbClr val="FFFFFF"/>
        </a:buClr>
        <a:buSzPct val="75000"/>
        <a:buFont typeface="StarSymbol" charset="0"/>
        <a:buChar char="–"/>
        <a:defRPr sz="2000">
          <a:solidFill>
            <a:srgbClr val="FFFFFF"/>
          </a:solidFill>
          <a:latin typeface="+mn-lt"/>
          <a:ea typeface="+mn-ea"/>
          <a:cs typeface="+mn-cs"/>
        </a:defRPr>
      </a:lvl4pPr>
      <a:lvl5pPr marL="21590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5pPr>
      <a:lvl6pPr marL="26162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6pPr>
      <a:lvl7pPr marL="30734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7pPr>
      <a:lvl8pPr marL="35306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8pPr>
      <a:lvl9pPr marL="39878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tiff"/><Relationship Id="rId7" Type="http://schemas.openxmlformats.org/officeDocument/2006/relationships/notesSlide" Target="../notesSlides/notesSlide3.xml"/></Relationships>

</file>

<file path=ppt/slides/_rels/slide4.xml.rels><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tiff"/><Relationship Id="rId8" Type="http://schemas.openxmlformats.org/officeDocument/2006/relationships/notesSlide" Target="../notesSlides/notesSlide4.xml"/></Relationships>

</file>

<file path=ppt/slides/_rels/slide5.xml.rels><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tiff"/><Relationship Id="rId9" Type="http://schemas.openxmlformats.org/officeDocument/2006/relationships/notesSlide" Target="../notesSlides/notesSlide5.xml"/></Relationships>

</file>

<file path=ppt/slides/_rels/slide6.xml.rels><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tiff"/><Relationship Id="rId10" Type="http://schemas.openxmlformats.org/officeDocument/2006/relationships/notesSlide" Target="../notesSlides/notesSlide6.xml"/></Relationships>

</file>

<file path=ppt/slides/_rels/slide7.xml.rels><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2.xml"/><Relationship Id="rId11" Type="http://schemas.openxmlformats.org/officeDocument/2006/relationships/notesSlide" Target="../notesSlides/notesSlide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073" name="Text Box 1"/>
          <p:cNvSpPr txBox="1">
            <a:spLocks noChangeArrowheads="1"/>
          </p:cNvSpPr>
          <p:nvPr/>
        </p:nvSpPr>
        <p:spPr bwMode="auto">
          <a:xfrm>
            <a:off x="739775" y="631825"/>
            <a:ext cx="8604250" cy="1262063"/>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b="1" dirty="0" smtClean="0">
                <a:solidFill>
                  <a:srgbClr val="FF0000"/>
                </a:solidFill>
                <a:latin typeface="Arial" charset="0"/>
              </a:rPr>
              <a:t>Original Article</a:t>
            </a:r>
            <a:r>
              <a:rPr lang="en-GB" sz="2800" b="1" dirty="0" smtClean="0">
                <a:solidFill>
                  <a:srgbClr val="FFFFFF"/>
                </a:solidFill>
                <a:latin typeface="Arial" charset="0"/>
              </a:rPr>
              <a:t> </a:t>
            </a:r>
            <a:br>
              <a:rPr lang="en-GB" sz="2800" b="1" dirty="0">
                <a:solidFill>
                  <a:srgbClr val="FFFFFF"/>
                </a:solidFill>
                <a:latin typeface="Arial" charset="0"/>
              </a:rPr>
            </a:br>
            <a:r>
              <a:rPr lang="en-GB" sz="2800" b="1" dirty="0" smtClean="0">
                <a:solidFill>
                  <a:srgbClr val="FFFFFF"/>
                </a:solidFill>
                <a:latin typeface="Arial" charset="0"/>
              </a:rPr>
              <a:t>“Super-Spreaders” and Person-to-Person Transmission of Andes Virus in Argentina</a:t>
            </a:r>
            <a:endParaRPr lang="en-GB" sz="2800" b="1" dirty="0">
              <a:solidFill>
                <a:srgbClr val="FFFFFF"/>
              </a:solidFill>
              <a:latin typeface="Arial" charset="0"/>
            </a:endParaRPr>
          </a:p>
        </p:txBody>
      </p:sp>
      <p:sp>
        <p:nvSpPr>
          <p:cNvPr id="3074" name="Text Box 2"/>
          <p:cNvSpPr txBox="1">
            <a:spLocks noChangeArrowheads="1"/>
          </p:cNvSpPr>
          <p:nvPr/>
        </p:nvSpPr>
        <p:spPr bwMode="auto">
          <a:xfrm>
            <a:off x="739775" y="2259013"/>
            <a:ext cx="8604250" cy="3021012"/>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err="1" smtClean="0">
                <a:solidFill>
                  <a:srgbClr val="FFFFFF"/>
                </a:solidFill>
                <a:latin typeface="Arial" charset="0"/>
              </a:rPr>
              <a:t>Valeria P. Martínez, Ph.D., Nicholas Di Paola, Sc.D., Daniel O. Alonso, B.Sc., Unai Pérez-Sautu, Ph.D., Carla M. Bellomo, Ph.D., Ayelén A. Iglesias, B.Sc., Rocio M. Coelho, B.Sc., Beatriz López, B.Sc., Natalia Periolo, Ph.D., Peter A. Larson, Ph.D., Elyse R. Nagle, M.Sc., Joseph A. Chitty, B.Sc., Catherine B. Pratt, M.Sc., Jorge Díaz, Ph.D., Daniel Cisterna, Ph.D., Josefina Campos, B.Sc., Heema Sharma, M.Sc., Bonnie Dighero-Kemp, B.Sc., Emiliano Biondo, M.D., Lorena Lewis, B.Sc., Constanza Anselmo, B.Sc., Camila P. Olivera, B.Sc., Fernanda Pontoriero, B.Sc., Enzo Lavarra, M.D., Jens H. Kuhn, M.D., Teresa Strella, M.D., Alexis Edelstein, Ph.D., Miriam I. Burgos, M.D., Mario Kaler, M.D., Adolfo Rubinstein, Ph.D., Jeffrey R. Kugelman, Ph.D., Mariano Sanchez-Lockhart, Ph.D., Claudia Perandones, Ph.D., and Gustavo Palacios, Ph.D.</a:t>
            </a:r>
            <a:endParaRPr lang="en-GB" sz="1800" dirty="0">
              <a:solidFill>
                <a:srgbClr val="FFFFFF"/>
              </a:solidFill>
              <a:latin typeface="Arial" charset="0"/>
            </a:endParaRPr>
          </a:p>
        </p:txBody>
      </p:sp>
      <p:sp>
        <p:nvSpPr>
          <p:cNvPr id="3075" name="Text Box 3"/>
          <p:cNvSpPr txBox="1">
            <a:spLocks noChangeArrowheads="1"/>
          </p:cNvSpPr>
          <p:nvPr/>
        </p:nvSpPr>
        <p:spPr bwMode="auto">
          <a:xfrm>
            <a:off x="738188" y="5641975"/>
            <a:ext cx="8604250" cy="268663"/>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N Engl J Med</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Volume 383(23):2230-2241</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December 3, 2020</a:t>
            </a:r>
            <a:endParaRPr lang="en-GB" sz="1800" dirty="0">
              <a:solidFill>
                <a:srgbClr val="FFFFFF"/>
              </a:solidFill>
              <a:latin typeface="Arial" charset="0"/>
            </a:endParaRPr>
          </a:p>
        </p:txBody>
      </p:sp>
      <p:pic>
        <p:nvPicPr>
          <p:cNvPr id="3076" name="Picture 4"/>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Study Overview</a:t>
            </a:r>
            <a:endParaRPr lang="en-GB" sz="2800" b="1" dirty="0">
              <a:solidFill>
                <a:srgbClr val="FFFFFF"/>
              </a:solidFill>
              <a:latin typeface="Arial" charset="0"/>
            </a:endParaRPr>
          </a:p>
        </p:txBody>
      </p:sp>
      <p:sp>
        <p:nvSpPr>
          <p:cNvPr id="4098"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In late 2018, Andes virus was identified as the cause of an outbreak of hantavirus pulmonary syndrome in Argentina.</a:t>
            </a:r>
            <a:endParaRPr lang="en-GB" sz="2000" b="0" dirty="0">
              <a:latin typeface="Arial" charset="0"/>
            </a:endParaRPr>
          </a:p>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This outbreak was associated with 34 confirmed infections and 11 deaths.</a:t>
            </a:r>
            <a:endParaRPr lang="en-GB" sz="2000" b="0" dirty="0">
              <a:latin typeface="Arial" charset="0"/>
            </a:endParaRPr>
          </a:p>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A detailed investigation identified person-to-person transmission that was driven by three symptomatic persons.</a:t>
            </a:r>
            <a:endParaRPr lang="en-GB" sz="2000" b="0" dirty="0">
              <a:latin typeface="Arial" charset="0"/>
            </a:endParaRPr>
          </a:p>
        </p:txBody>
      </p:sp>
      <p:pic>
        <p:nvPicPr>
          <p:cNvPr id="4099"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Epidemiologic Analysis of the 2018−2019 Outbreak of Andes Virus (ANDV) Hantavirus Pulmonary Syndrome and Transmission Dynamics in Humans.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586876" y="6583363"/>
            <a:ext cx="6884648"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Martínez VP et al. N Engl J Med2020;383:2230-2241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586876" y="1028700"/>
            <a:ext cx="6884648" cy="5486400"/>
          </a:xfrm>
          <a:prstGeom prst="rect">
            <a:avLst/>
          </a:prstGeom>
        </p:spPr>
      </p:pic>
    </p:spTree>
  </p:cSld>
  <p:clrMapOvr>
    <a:masterClrMapping/>
  </p:clrMapOvr>
  <p:transition spd="me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Characteristics of Cases of Andes Virus (ANDV) Hantavirus Pulmonary Syndrome.</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3582358" y="6583363"/>
            <a:ext cx="2893684"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Martínez VP et al. N Engl J Med2020;383:2230-2241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3582358" y="1028700"/>
            <a:ext cx="2893684" cy="5486400"/>
          </a:xfrm>
          <a:prstGeom prst="rect">
            <a:avLst/>
          </a:prstGeom>
        </p:spPr>
      </p:pic>
    </p:spTree>
  </p:cSld>
  <p:clrMapOvr>
    <a:masterClrMapping/>
  </p:clrMapOvr>
  <p:transition spd="me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Clinical Findings in Patients with ANDV Infection.</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2236839" y="6583363"/>
            <a:ext cx="5584723"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Martínez VP et al. N Engl J Med2020;383:2230-2241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2236839" y="1028700"/>
            <a:ext cx="5584723" cy="5486400"/>
          </a:xfrm>
          <a:prstGeom prst="rect">
            <a:avLst/>
          </a:prstGeom>
        </p:spPr>
      </p:pic>
    </p:spTree>
  </p:cSld>
  <p:clrMapOvr>
    <a:masterClrMapping/>
  </p:clrMapOvr>
  <p:transition spd="me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Serum Cytokine Profiles of Patients with ANDV Infection.</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167470" y="6583363"/>
            <a:ext cx="7723460"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Martínez VP et al. N Engl J Med2020;383:2230-2241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167470" y="1028700"/>
            <a:ext cx="7723460" cy="5486400"/>
          </a:xfrm>
          <a:prstGeom prst="rect">
            <a:avLst/>
          </a:prstGeom>
        </p:spPr>
      </p:pic>
    </p:spTree>
  </p:cSld>
  <p:clrMapOvr>
    <a:masterClrMapping/>
  </p:clrMapOvr>
  <p:transition spd="me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241"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Conclusions</a:t>
            </a:r>
            <a:endParaRPr lang="en-GB" sz="2800" b="1" dirty="0">
              <a:solidFill>
                <a:srgbClr val="FFFFFF"/>
              </a:solidFill>
              <a:latin typeface="Arial" charset="0"/>
            </a:endParaRPr>
          </a:p>
        </p:txBody>
      </p:sp>
      <p:sp>
        <p:nvSpPr>
          <p:cNvPr id="10242"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Among patients with ANDV hantavirus pulmonary syndrome, high viral titers in combination with attendance at massive social gatherings or extensive contact among persons were associated with a higher likelihood of transmission.</a:t>
            </a:r>
            <a:endParaRPr lang="en-GB" sz="2000" b="0" dirty="0">
              <a:latin typeface="Arial" charset="0"/>
            </a:endParaRPr>
          </a:p>
        </p:txBody>
      </p:sp>
      <p:pic>
        <p:nvPicPr>
          <p:cNvPr id="10243"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Gothic"/>
        <a:cs typeface="Gothic"/>
      </a:majorFont>
      <a:minorFont>
        <a:latin typeface="Times New Roman"/>
        <a:ea typeface="Gothic"/>
        <a:cs typeface="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2820</TotalTime>
  <Words>7</Words>
  <Application>Microsoft Office PowerPoint</Application>
  <PresentationFormat>Custom</PresentationFormat>
  <Paragraphs>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Bob Starbird</dc:creator>
  <cp:lastModifiedBy>bstarbird</cp:lastModifiedBy>
  <cp:revision>15</cp:revision>
  <dcterms:modified xsi:type="dcterms:W3CDTF">2010-05-03T14:18:33Z</dcterms:modified>
</cp:coreProperties>
</file>